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Lst>
  <p:sldSz cx="10287000" cy="13716000"/>
  <p:notesSz cx="6858000" cy="9144000"/>
  <p:embeddedFontLst>
    <p:embeddedFont>
      <p:font typeface="Canva Sans Bold Italics" charset="1" panose="020B0803030501040103"/>
      <p:regular r:id="rId7"/>
    </p:embeddedFont>
    <p:embeddedFont>
      <p:font typeface="Canva Sans Bold" charset="1" panose="020B0803030501040103"/>
      <p:regular r:id="rId8"/>
    </p:embeddedFont>
    <p:embeddedFont>
      <p:font typeface="Canva Sans Italics" charset="1" panose="020B0503030501040103"/>
      <p:regular r:id="rId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44666"/>
            <a:ext cx="7246953" cy="712422"/>
          </a:xfrm>
          <a:custGeom>
            <a:avLst/>
            <a:gdLst/>
            <a:ahLst/>
            <a:cxnLst/>
            <a:rect r="r" b="b" t="t" l="l"/>
            <a:pathLst>
              <a:path h="712422" w="7246953">
                <a:moveTo>
                  <a:pt x="0" y="0"/>
                </a:moveTo>
                <a:lnTo>
                  <a:pt x="7246953" y="0"/>
                </a:lnTo>
                <a:lnTo>
                  <a:pt x="7246953" y="712423"/>
                </a:lnTo>
                <a:lnTo>
                  <a:pt x="0" y="712423"/>
                </a:lnTo>
                <a:lnTo>
                  <a:pt x="0" y="0"/>
                </a:lnTo>
                <a:close/>
              </a:path>
            </a:pathLst>
          </a:custGeom>
          <a:blipFill>
            <a:blip r:embed="rId2">
              <a:extLst>
                <a:ext uri="{96DAC541-7B7A-43D3-8B79-37D633B846F1}">
                  <asvg:svgBlip xmlns:asvg="http://schemas.microsoft.com/office/drawing/2016/SVG/main" r:embed="rId3"/>
                </a:ext>
              </a:extLst>
            </a:blip>
            <a:stretch>
              <a:fillRect l="0" t="-125" r="0" b="-127"/>
            </a:stretch>
          </a:blipFill>
        </p:spPr>
      </p:sp>
      <p:sp>
        <p:nvSpPr>
          <p:cNvPr name="Freeform 3" id="3"/>
          <p:cNvSpPr/>
          <p:nvPr/>
        </p:nvSpPr>
        <p:spPr>
          <a:xfrm flipH="false" flipV="false" rot="0">
            <a:off x="2053057" y="12954648"/>
            <a:ext cx="8233943" cy="761352"/>
          </a:xfrm>
          <a:custGeom>
            <a:avLst/>
            <a:gdLst/>
            <a:ahLst/>
            <a:cxnLst/>
            <a:rect r="r" b="b" t="t" l="l"/>
            <a:pathLst>
              <a:path h="761352" w="8233943">
                <a:moveTo>
                  <a:pt x="0" y="0"/>
                </a:moveTo>
                <a:lnTo>
                  <a:pt x="8233943" y="0"/>
                </a:lnTo>
                <a:lnTo>
                  <a:pt x="8233943" y="761352"/>
                </a:lnTo>
                <a:lnTo>
                  <a:pt x="0" y="761352"/>
                </a:lnTo>
                <a:lnTo>
                  <a:pt x="0" y="0"/>
                </a:lnTo>
                <a:close/>
              </a:path>
            </a:pathLst>
          </a:custGeom>
          <a:blipFill>
            <a:blip r:embed="rId4">
              <a:extLst>
                <a:ext uri="{96DAC541-7B7A-43D3-8B79-37D633B846F1}">
                  <asvg:svgBlip xmlns:asvg="http://schemas.microsoft.com/office/drawing/2016/SVG/main" r:embed="rId5"/>
                </a:ext>
              </a:extLst>
            </a:blip>
            <a:stretch>
              <a:fillRect l="0" t="-11" r="0" b="-11"/>
            </a:stretch>
          </a:blipFill>
        </p:spPr>
      </p:sp>
      <p:sp>
        <p:nvSpPr>
          <p:cNvPr name="Freeform 4" id="4"/>
          <p:cNvSpPr/>
          <p:nvPr/>
        </p:nvSpPr>
        <p:spPr>
          <a:xfrm flipH="false" flipV="false" rot="0">
            <a:off x="1028700" y="6409087"/>
            <a:ext cx="5405704" cy="2543613"/>
          </a:xfrm>
          <a:custGeom>
            <a:avLst/>
            <a:gdLst/>
            <a:ahLst/>
            <a:cxnLst/>
            <a:rect r="r" b="b" t="t" l="l"/>
            <a:pathLst>
              <a:path h="2543613" w="5405704">
                <a:moveTo>
                  <a:pt x="0" y="0"/>
                </a:moveTo>
                <a:lnTo>
                  <a:pt x="5405704" y="0"/>
                </a:lnTo>
                <a:lnTo>
                  <a:pt x="5405704" y="2543613"/>
                </a:lnTo>
                <a:lnTo>
                  <a:pt x="0" y="2543613"/>
                </a:lnTo>
                <a:lnTo>
                  <a:pt x="0" y="0"/>
                </a:lnTo>
                <a:close/>
              </a:path>
            </a:pathLst>
          </a:custGeom>
          <a:blipFill>
            <a:blip r:embed="rId6">
              <a:extLst>
                <a:ext uri="{96DAC541-7B7A-43D3-8B79-37D633B846F1}">
                  <asvg:svgBlip xmlns:asvg="http://schemas.microsoft.com/office/drawing/2016/SVG/main" r:embed="rId7"/>
                </a:ext>
              </a:extLst>
            </a:blip>
            <a:stretch>
              <a:fillRect l="0" t="-137" r="0" b="-136"/>
            </a:stretch>
          </a:blipFill>
        </p:spPr>
      </p:sp>
      <p:sp>
        <p:nvSpPr>
          <p:cNvPr name="Freeform 5" id="5"/>
          <p:cNvSpPr/>
          <p:nvPr/>
        </p:nvSpPr>
        <p:spPr>
          <a:xfrm flipH="false" flipV="false" rot="0">
            <a:off x="771525" y="9028900"/>
            <a:ext cx="8229600" cy="3875122"/>
          </a:xfrm>
          <a:custGeom>
            <a:avLst/>
            <a:gdLst/>
            <a:ahLst/>
            <a:cxnLst/>
            <a:rect r="r" b="b" t="t" l="l"/>
            <a:pathLst>
              <a:path h="3875122" w="8229600">
                <a:moveTo>
                  <a:pt x="0" y="0"/>
                </a:moveTo>
                <a:lnTo>
                  <a:pt x="8229600" y="0"/>
                </a:lnTo>
                <a:lnTo>
                  <a:pt x="8229600" y="3875122"/>
                </a:lnTo>
                <a:lnTo>
                  <a:pt x="0" y="3875122"/>
                </a:lnTo>
                <a:lnTo>
                  <a:pt x="0" y="0"/>
                </a:lnTo>
                <a:close/>
              </a:path>
            </a:pathLst>
          </a:custGeom>
          <a:blipFill>
            <a:blip r:embed="rId8">
              <a:extLst>
                <a:ext uri="{96DAC541-7B7A-43D3-8B79-37D633B846F1}">
                  <asvg:svgBlip xmlns:asvg="http://schemas.microsoft.com/office/drawing/2016/SVG/main" r:embed="rId9"/>
                </a:ext>
              </a:extLst>
            </a:blip>
            <a:stretch>
              <a:fillRect l="0" t="-20" r="0" b="-19"/>
            </a:stretch>
          </a:blipFill>
        </p:spPr>
      </p:sp>
      <p:sp>
        <p:nvSpPr>
          <p:cNvPr name="Freeform 6" id="6"/>
          <p:cNvSpPr/>
          <p:nvPr/>
        </p:nvSpPr>
        <p:spPr>
          <a:xfrm flipH="false" flipV="false" rot="0">
            <a:off x="0" y="-144666"/>
            <a:ext cx="525875" cy="4608557"/>
          </a:xfrm>
          <a:custGeom>
            <a:avLst/>
            <a:gdLst/>
            <a:ahLst/>
            <a:cxnLst/>
            <a:rect r="r" b="b" t="t" l="l"/>
            <a:pathLst>
              <a:path h="4608557" w="525875">
                <a:moveTo>
                  <a:pt x="0" y="0"/>
                </a:moveTo>
                <a:lnTo>
                  <a:pt x="525875" y="0"/>
                </a:lnTo>
                <a:lnTo>
                  <a:pt x="525875" y="4608557"/>
                </a:lnTo>
                <a:lnTo>
                  <a:pt x="0" y="4608557"/>
                </a:lnTo>
                <a:lnTo>
                  <a:pt x="0" y="0"/>
                </a:lnTo>
                <a:close/>
              </a:path>
            </a:pathLst>
          </a:custGeom>
          <a:blipFill>
            <a:blip r:embed="rId10">
              <a:extLst>
                <a:ext uri="{96DAC541-7B7A-43D3-8B79-37D633B846F1}">
                  <asvg:svgBlip xmlns:asvg="http://schemas.microsoft.com/office/drawing/2016/SVG/main" r:embed="rId11"/>
                </a:ext>
              </a:extLst>
            </a:blip>
            <a:stretch>
              <a:fillRect l="-699" t="0" r="-697" b="0"/>
            </a:stretch>
          </a:blipFill>
        </p:spPr>
      </p:sp>
      <p:sp>
        <p:nvSpPr>
          <p:cNvPr name="Freeform 7" id="7"/>
          <p:cNvSpPr/>
          <p:nvPr/>
        </p:nvSpPr>
        <p:spPr>
          <a:xfrm flipH="false" flipV="false" rot="0">
            <a:off x="9726720" y="10061791"/>
            <a:ext cx="560280" cy="3230766"/>
          </a:xfrm>
          <a:custGeom>
            <a:avLst/>
            <a:gdLst/>
            <a:ahLst/>
            <a:cxnLst/>
            <a:rect r="r" b="b" t="t" l="l"/>
            <a:pathLst>
              <a:path h="3230766" w="560280">
                <a:moveTo>
                  <a:pt x="0" y="0"/>
                </a:moveTo>
                <a:lnTo>
                  <a:pt x="560280" y="0"/>
                </a:lnTo>
                <a:lnTo>
                  <a:pt x="560280" y="3230766"/>
                </a:lnTo>
                <a:lnTo>
                  <a:pt x="0" y="3230766"/>
                </a:lnTo>
                <a:lnTo>
                  <a:pt x="0" y="0"/>
                </a:lnTo>
                <a:close/>
              </a:path>
            </a:pathLst>
          </a:custGeom>
          <a:blipFill>
            <a:blip r:embed="rId12">
              <a:extLst>
                <a:ext uri="{96DAC541-7B7A-43D3-8B79-37D633B846F1}">
                  <asvg:svgBlip xmlns:asvg="http://schemas.microsoft.com/office/drawing/2016/SVG/main" r:embed="rId13"/>
                </a:ext>
              </a:extLst>
            </a:blip>
            <a:stretch>
              <a:fillRect l="-32" t="0" r="-30" b="0"/>
            </a:stretch>
          </a:blipFill>
        </p:spPr>
      </p:sp>
      <p:sp>
        <p:nvSpPr>
          <p:cNvPr name="Freeform 8" id="8"/>
          <p:cNvSpPr/>
          <p:nvPr/>
        </p:nvSpPr>
        <p:spPr>
          <a:xfrm flipH="false" flipV="false" rot="0">
            <a:off x="-1353" y="7522883"/>
            <a:ext cx="772878" cy="4119915"/>
          </a:xfrm>
          <a:custGeom>
            <a:avLst/>
            <a:gdLst/>
            <a:ahLst/>
            <a:cxnLst/>
            <a:rect r="r" b="b" t="t" l="l"/>
            <a:pathLst>
              <a:path h="4119915" w="772878">
                <a:moveTo>
                  <a:pt x="0" y="0"/>
                </a:moveTo>
                <a:lnTo>
                  <a:pt x="772878" y="0"/>
                </a:lnTo>
                <a:lnTo>
                  <a:pt x="772878" y="4119915"/>
                </a:lnTo>
                <a:lnTo>
                  <a:pt x="0" y="4119915"/>
                </a:lnTo>
                <a:lnTo>
                  <a:pt x="0" y="0"/>
                </a:lnTo>
                <a:close/>
              </a:path>
            </a:pathLst>
          </a:custGeom>
          <a:blipFill>
            <a:blip r:embed="rId14">
              <a:extLst>
                <a:ext uri="{96DAC541-7B7A-43D3-8B79-37D633B846F1}">
                  <asvg:svgBlip xmlns:asvg="http://schemas.microsoft.com/office/drawing/2016/SVG/main" r:embed="rId15"/>
                </a:ext>
              </a:extLst>
            </a:blip>
            <a:stretch>
              <a:fillRect l="-474" t="0" r="-474" b="0"/>
            </a:stretch>
          </a:blipFill>
        </p:spPr>
      </p:sp>
      <p:sp>
        <p:nvSpPr>
          <p:cNvPr name="Freeform 9" id="9"/>
          <p:cNvSpPr/>
          <p:nvPr/>
        </p:nvSpPr>
        <p:spPr>
          <a:xfrm flipH="false" flipV="false" rot="0">
            <a:off x="9514122" y="3402968"/>
            <a:ext cx="772878" cy="4119915"/>
          </a:xfrm>
          <a:custGeom>
            <a:avLst/>
            <a:gdLst/>
            <a:ahLst/>
            <a:cxnLst/>
            <a:rect r="r" b="b" t="t" l="l"/>
            <a:pathLst>
              <a:path h="4119915" w="772878">
                <a:moveTo>
                  <a:pt x="0" y="0"/>
                </a:moveTo>
                <a:lnTo>
                  <a:pt x="772878" y="0"/>
                </a:lnTo>
                <a:lnTo>
                  <a:pt x="772878" y="4119915"/>
                </a:lnTo>
                <a:lnTo>
                  <a:pt x="0" y="4119915"/>
                </a:lnTo>
                <a:lnTo>
                  <a:pt x="0" y="0"/>
                </a:lnTo>
                <a:close/>
              </a:path>
            </a:pathLst>
          </a:custGeom>
          <a:blipFill>
            <a:blip r:embed="rId16">
              <a:extLst>
                <a:ext uri="{96DAC541-7B7A-43D3-8B79-37D633B846F1}">
                  <asvg:svgBlip xmlns:asvg="http://schemas.microsoft.com/office/drawing/2016/SVG/main" r:embed="rId17"/>
                </a:ext>
              </a:extLst>
            </a:blip>
            <a:stretch>
              <a:fillRect l="-474" t="0" r="-474" b="0"/>
            </a:stretch>
          </a:blipFill>
        </p:spPr>
      </p:sp>
      <p:grpSp>
        <p:nvGrpSpPr>
          <p:cNvPr name="Group 10" id="10"/>
          <p:cNvGrpSpPr/>
          <p:nvPr/>
        </p:nvGrpSpPr>
        <p:grpSpPr>
          <a:xfrm rot="0">
            <a:off x="1028700" y="858536"/>
            <a:ext cx="8229600" cy="5485066"/>
            <a:chOff x="0" y="0"/>
            <a:chExt cx="10972800" cy="7313422"/>
          </a:xfrm>
        </p:grpSpPr>
        <p:sp>
          <p:nvSpPr>
            <p:cNvPr name="Freeform 11" id="11"/>
            <p:cNvSpPr/>
            <p:nvPr/>
          </p:nvSpPr>
          <p:spPr>
            <a:xfrm flipH="false" flipV="false" rot="0">
              <a:off x="0" y="0"/>
              <a:ext cx="10972800" cy="7313422"/>
            </a:xfrm>
            <a:custGeom>
              <a:avLst/>
              <a:gdLst/>
              <a:ahLst/>
              <a:cxnLst/>
              <a:rect r="r" b="b" t="t" l="l"/>
              <a:pathLst>
                <a:path h="7313422" w="10972800">
                  <a:moveTo>
                    <a:pt x="0" y="0"/>
                  </a:moveTo>
                  <a:lnTo>
                    <a:pt x="10972800" y="0"/>
                  </a:lnTo>
                  <a:lnTo>
                    <a:pt x="10972800" y="7313422"/>
                  </a:lnTo>
                  <a:lnTo>
                    <a:pt x="0" y="7313422"/>
                  </a:lnTo>
                  <a:lnTo>
                    <a:pt x="0" y="0"/>
                  </a:lnTo>
                  <a:close/>
                </a:path>
              </a:pathLst>
            </a:custGeom>
            <a:blipFill>
              <a:blip r:embed="rId18"/>
              <a:stretch>
                <a:fillRect l="0" t="-36" r="0" b="-36"/>
              </a:stretch>
            </a:blipFill>
          </p:spPr>
        </p:sp>
      </p:grpSp>
      <p:sp>
        <p:nvSpPr>
          <p:cNvPr name="TextBox 12" id="12"/>
          <p:cNvSpPr txBox="true"/>
          <p:nvPr/>
        </p:nvSpPr>
        <p:spPr>
          <a:xfrm rot="0">
            <a:off x="625638" y="9369007"/>
            <a:ext cx="2618816" cy="701675"/>
          </a:xfrm>
          <a:prstGeom prst="rect">
            <a:avLst/>
          </a:prstGeom>
        </p:spPr>
        <p:txBody>
          <a:bodyPr anchor="t" rtlCol="false" tIns="0" lIns="0" bIns="0" rIns="0">
            <a:spAutoFit/>
          </a:bodyPr>
          <a:lstStyle/>
          <a:p>
            <a:pPr algn="ctr">
              <a:lnSpc>
                <a:spcPts val="2800"/>
              </a:lnSpc>
            </a:pPr>
            <a:r>
              <a:rPr lang="en-US" b="true" sz="2000" i="true">
                <a:solidFill>
                  <a:srgbClr val="000000"/>
                </a:solidFill>
                <a:latin typeface="Canva Sans Bold Italics"/>
                <a:ea typeface="Canva Sans Bold Italics"/>
                <a:cs typeface="Canva Sans Bold Italics"/>
                <a:sym typeface="Canva Sans Bold Italics"/>
              </a:rPr>
              <a:t>Project Title:</a:t>
            </a:r>
          </a:p>
          <a:p>
            <a:pPr algn="ctr">
              <a:lnSpc>
                <a:spcPts val="2800"/>
              </a:lnSpc>
            </a:pPr>
          </a:p>
        </p:txBody>
      </p:sp>
      <p:sp>
        <p:nvSpPr>
          <p:cNvPr name="TextBox 13" id="13"/>
          <p:cNvSpPr txBox="true"/>
          <p:nvPr/>
        </p:nvSpPr>
        <p:spPr>
          <a:xfrm rot="0">
            <a:off x="-1111415" y="6659563"/>
            <a:ext cx="6871891" cy="349248"/>
          </a:xfrm>
          <a:prstGeom prst="rect">
            <a:avLst/>
          </a:prstGeom>
        </p:spPr>
        <p:txBody>
          <a:bodyPr anchor="t" rtlCol="false" tIns="0" lIns="0" bIns="0" rIns="0">
            <a:spAutoFit/>
          </a:bodyPr>
          <a:lstStyle/>
          <a:p>
            <a:pPr algn="ctr">
              <a:lnSpc>
                <a:spcPts val="2800"/>
              </a:lnSpc>
            </a:pPr>
            <a:r>
              <a:rPr lang="en-US" sz="2000" b="true">
                <a:solidFill>
                  <a:srgbClr val="000000"/>
                </a:solidFill>
                <a:latin typeface="Canva Sans Bold"/>
                <a:ea typeface="Canva Sans Bold"/>
                <a:cs typeface="Canva Sans Bold"/>
                <a:sym typeface="Canva Sans Bold"/>
              </a:rPr>
              <a:t>Team members :</a:t>
            </a:r>
          </a:p>
        </p:txBody>
      </p:sp>
      <p:sp>
        <p:nvSpPr>
          <p:cNvPr name="TextBox 14" id="14"/>
          <p:cNvSpPr txBox="true"/>
          <p:nvPr/>
        </p:nvSpPr>
        <p:spPr>
          <a:xfrm rot="0">
            <a:off x="2650290" y="7053477"/>
            <a:ext cx="1892591" cy="1748970"/>
          </a:xfrm>
          <a:prstGeom prst="rect">
            <a:avLst/>
          </a:prstGeom>
        </p:spPr>
        <p:txBody>
          <a:bodyPr anchor="t" rtlCol="false" tIns="0" lIns="0" bIns="0" rIns="0">
            <a:spAutoFit/>
          </a:bodyPr>
          <a:lstStyle/>
          <a:p>
            <a:pPr algn="l">
              <a:lnSpc>
                <a:spcPts val="2183"/>
              </a:lnSpc>
            </a:pPr>
            <a:r>
              <a:rPr lang="en-US" sz="1559" i="true" b="true">
                <a:solidFill>
                  <a:srgbClr val="000000"/>
                </a:solidFill>
                <a:latin typeface="Canva Sans Bold Italics"/>
                <a:ea typeface="Canva Sans Bold Italics"/>
                <a:cs typeface="Canva Sans Bold Italics"/>
                <a:sym typeface="Canva Sans Bold Italics"/>
              </a:rPr>
              <a:t>1.Charumathi M</a:t>
            </a:r>
          </a:p>
          <a:p>
            <a:pPr algn="l">
              <a:lnSpc>
                <a:spcPts val="2183"/>
              </a:lnSpc>
            </a:pPr>
            <a:r>
              <a:rPr lang="en-US" sz="1559" i="true" b="true">
                <a:solidFill>
                  <a:srgbClr val="000000"/>
                </a:solidFill>
                <a:latin typeface="Canva Sans Bold Italics"/>
                <a:ea typeface="Canva Sans Bold Italics"/>
                <a:cs typeface="Canva Sans Bold Italics"/>
                <a:sym typeface="Canva Sans Bold Italics"/>
              </a:rPr>
              <a:t>2.Nesavandana K R</a:t>
            </a:r>
          </a:p>
          <a:p>
            <a:pPr algn="l">
              <a:lnSpc>
                <a:spcPts val="2072"/>
              </a:lnSpc>
            </a:pPr>
            <a:r>
              <a:rPr lang="en-US" sz="1480" i="true" b="true">
                <a:solidFill>
                  <a:srgbClr val="000000"/>
                </a:solidFill>
                <a:latin typeface="Canva Sans Bold Italics"/>
                <a:ea typeface="Canva Sans Bold Italics"/>
                <a:cs typeface="Canva Sans Bold Italics"/>
                <a:sym typeface="Canva Sans Bold Italics"/>
              </a:rPr>
              <a:t>3.Hashini S</a:t>
            </a:r>
          </a:p>
          <a:p>
            <a:pPr algn="l">
              <a:lnSpc>
                <a:spcPts val="2183"/>
              </a:lnSpc>
            </a:pPr>
            <a:r>
              <a:rPr lang="en-US" sz="1559" i="true" b="true">
                <a:solidFill>
                  <a:srgbClr val="000000"/>
                </a:solidFill>
                <a:latin typeface="Canva Sans Bold Italics"/>
                <a:ea typeface="Canva Sans Bold Italics"/>
                <a:cs typeface="Canva Sans Bold Italics"/>
                <a:sym typeface="Canva Sans Bold Italics"/>
              </a:rPr>
              <a:t>4.Sudharsna S</a:t>
            </a:r>
          </a:p>
          <a:p>
            <a:pPr algn="l">
              <a:lnSpc>
                <a:spcPts val="2183"/>
              </a:lnSpc>
            </a:pPr>
            <a:r>
              <a:rPr lang="en-US" sz="1559" i="true" b="true">
                <a:solidFill>
                  <a:srgbClr val="000000"/>
                </a:solidFill>
                <a:latin typeface="Canva Sans Bold Italics"/>
                <a:ea typeface="Canva Sans Bold Italics"/>
                <a:cs typeface="Canva Sans Bold Italics"/>
                <a:sym typeface="Canva Sans Bold Italics"/>
              </a:rPr>
              <a:t>5.Gurushunth A R</a:t>
            </a:r>
          </a:p>
          <a:p>
            <a:pPr algn="l">
              <a:lnSpc>
                <a:spcPts val="2183"/>
              </a:lnSpc>
            </a:pPr>
            <a:r>
              <a:rPr lang="en-US" sz="1559" i="true" b="true">
                <a:solidFill>
                  <a:srgbClr val="000000"/>
                </a:solidFill>
                <a:latin typeface="Canva Sans Bold Italics"/>
                <a:ea typeface="Canva Sans Bold Italics"/>
                <a:cs typeface="Canva Sans Bold Italics"/>
                <a:sym typeface="Canva Sans Bold Italics"/>
              </a:rPr>
              <a:t>6.Dev venket S</a:t>
            </a:r>
          </a:p>
          <a:p>
            <a:pPr algn="ctr">
              <a:lnSpc>
                <a:spcPts val="1187"/>
              </a:lnSpc>
            </a:pPr>
          </a:p>
        </p:txBody>
      </p:sp>
      <p:sp>
        <p:nvSpPr>
          <p:cNvPr name="TextBox 15" id="15"/>
          <p:cNvSpPr txBox="true"/>
          <p:nvPr/>
        </p:nvSpPr>
        <p:spPr>
          <a:xfrm rot="0">
            <a:off x="1019820" y="10233241"/>
            <a:ext cx="2233513" cy="297178"/>
          </a:xfrm>
          <a:prstGeom prst="rect">
            <a:avLst/>
          </a:prstGeom>
        </p:spPr>
        <p:txBody>
          <a:bodyPr anchor="t" rtlCol="false" tIns="0" lIns="0" bIns="0" rIns="0">
            <a:spAutoFit/>
          </a:bodyPr>
          <a:lstStyle/>
          <a:p>
            <a:pPr algn="ctr">
              <a:lnSpc>
                <a:spcPts val="2520"/>
              </a:lnSpc>
            </a:pPr>
            <a:r>
              <a:rPr lang="en-US" b="true" sz="1800" i="true">
                <a:solidFill>
                  <a:srgbClr val="000000"/>
                </a:solidFill>
                <a:latin typeface="Canva Sans Bold Italics"/>
                <a:ea typeface="Canva Sans Bold Italics"/>
                <a:cs typeface="Canva Sans Bold Italics"/>
                <a:sym typeface="Canva Sans Bold Italics"/>
              </a:rPr>
              <a:t>Problem statement:</a:t>
            </a:r>
          </a:p>
        </p:txBody>
      </p:sp>
      <p:sp>
        <p:nvSpPr>
          <p:cNvPr name="TextBox 16" id="16"/>
          <p:cNvSpPr txBox="true"/>
          <p:nvPr/>
        </p:nvSpPr>
        <p:spPr>
          <a:xfrm rot="0">
            <a:off x="1028700" y="10655592"/>
            <a:ext cx="7754786" cy="1977854"/>
          </a:xfrm>
          <a:prstGeom prst="rect">
            <a:avLst/>
          </a:prstGeom>
        </p:spPr>
        <p:txBody>
          <a:bodyPr anchor="t" rtlCol="false" tIns="0" lIns="0" bIns="0" rIns="0">
            <a:spAutoFit/>
          </a:bodyPr>
          <a:lstStyle/>
          <a:p>
            <a:pPr algn="l">
              <a:lnSpc>
                <a:spcPts val="2030"/>
              </a:lnSpc>
            </a:pPr>
            <a:r>
              <a:rPr lang="en-US" sz="1450" i="true">
                <a:solidFill>
                  <a:srgbClr val="000000"/>
                </a:solidFill>
                <a:latin typeface="Canva Sans Italics"/>
                <a:ea typeface="Canva Sans Italics"/>
                <a:cs typeface="Canva Sans Italics"/>
                <a:sym typeface="Canva Sans Italics"/>
              </a:rPr>
              <a:t>Milk is a widely consumed nutritious food, but it is often adulterated with water, detergent, starch, chemicals, and even steroids or hormones to increase profit, which can cause serious health issues. Traditional milk testing requires laboratories, chemicals, and skilled technicians, making it costly, slow, and difficult in rural areas. Therefore, a low-cost, portable, real-time milk quality monitoring system using sensors to measure pH, turbidity, TDS, color, and density is needed to quickly detect adulteration and ensure safe, pure milk for consumers. </a:t>
            </a:r>
          </a:p>
          <a:p>
            <a:pPr algn="l">
              <a:lnSpc>
                <a:spcPts val="1488"/>
              </a:lnSpc>
            </a:pPr>
          </a:p>
        </p:txBody>
      </p:sp>
      <p:sp>
        <p:nvSpPr>
          <p:cNvPr name="TextBox 17" id="17"/>
          <p:cNvSpPr txBox="true"/>
          <p:nvPr/>
        </p:nvSpPr>
        <p:spPr>
          <a:xfrm rot="0">
            <a:off x="525875" y="9705557"/>
            <a:ext cx="8229600" cy="356233"/>
          </a:xfrm>
          <a:prstGeom prst="rect">
            <a:avLst/>
          </a:prstGeom>
        </p:spPr>
        <p:txBody>
          <a:bodyPr anchor="t" rtlCol="false" tIns="0" lIns="0" bIns="0" rIns="0">
            <a:spAutoFit/>
          </a:bodyPr>
          <a:lstStyle/>
          <a:p>
            <a:pPr algn="ctr">
              <a:lnSpc>
                <a:spcPts val="2940"/>
              </a:lnSpc>
            </a:pPr>
            <a:r>
              <a:rPr lang="en-US" b="true" sz="2100" i="true">
                <a:solidFill>
                  <a:srgbClr val="000000"/>
                </a:solidFill>
                <a:latin typeface="Canva Sans Bold Italics"/>
                <a:ea typeface="Canva Sans Bold Italics"/>
                <a:cs typeface="Canva Sans Bold Italics"/>
                <a:sym typeface="Canva Sans Bold Italics"/>
              </a:rPr>
              <a:t>PURE CHECK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DAHEBp5wBkI</dc:identifier>
  <dcterms:modified xsi:type="dcterms:W3CDTF">2011-08-01T06:04:30Z</dcterms:modified>
  <cp:revision>1</cp:revision>
  <dc:title>PY052 .pptx</dc:title>
</cp:coreProperties>
</file>